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42"/>
      <p:bold r:id="rId143"/>
      <p:italic r:id="rId144"/>
      <p:boldItalic r:id="rId145"/>
    </p:embeddedFont>
    <p:embeddedFont>
      <p:font typeface="Open Sans"/>
      <p:regular r:id="rId146"/>
      <p:bold r:id="rId147"/>
      <p:italic r:id="rId148"/>
      <p:boldItalic r:id="rId1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0" roundtripDataSignature="AMtx7mhxEnYnNFQVTzCqUeNNRHlM71N+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8FA197-D0D9-4C70-A56F-C0936FFB6E3C}">
  <a:tblStyle styleId="{C48FA197-D0D9-4C70-A56F-C0936FFB6E3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2E6AEAC-5578-4171-8981-794B80100A1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7969945-0123-4B3A-B137-CFF799A78560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42" Type="http://schemas.openxmlformats.org/officeDocument/2006/relationships/font" Target="fonts/Roboto-regular.fntdata"/><Relationship Id="rId143" Type="http://schemas.openxmlformats.org/officeDocument/2006/relationships/font" Target="fonts/Roboto-bold.fntdata"/><Relationship Id="rId144" Type="http://schemas.openxmlformats.org/officeDocument/2006/relationships/font" Target="fonts/Roboto-italic.fntdata"/><Relationship Id="rId145" Type="http://schemas.openxmlformats.org/officeDocument/2006/relationships/font" Target="fonts/Roboto-boldItalic.fntdata"/><Relationship Id="rId146" Type="http://schemas.openxmlformats.org/officeDocument/2006/relationships/font" Target="fonts/OpenSans-regular.fntdata"/><Relationship Id="rId147" Type="http://schemas.openxmlformats.org/officeDocument/2006/relationships/font" Target="fonts/OpenSans-bold.fntdata"/><Relationship Id="rId148" Type="http://schemas.openxmlformats.org/officeDocument/2006/relationships/font" Target="fonts/OpenSans-italic.fntdata"/><Relationship Id="rId149" Type="http://schemas.openxmlformats.org/officeDocument/2006/relationships/font" Target="fonts/OpenSans-boldItalic.fntdata"/><Relationship Id="rId15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418377556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9418377556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984f486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984f486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/>
          <p:nvPr>
            <p:ph idx="2" type="sldImg"/>
          </p:nvPr>
        </p:nvSpPr>
        <p:spPr>
          <a:xfrm>
            <a:off x="1828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132"/>
          <p:cNvSpPr/>
          <p:nvPr/>
        </p:nvSpPr>
        <p:spPr>
          <a:xfrm>
            <a:off x="457200" y="4974336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AunooAI  ·  Intelligence Collection &amp; Foresight Methodology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133"/>
          <p:cNvSpPr/>
          <p:nvPr/>
        </p:nvSpPr>
        <p:spPr>
          <a:xfrm>
            <a:off x="457200" y="4974336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AunooAI  ·  Intelligence Collection &amp; Foresight Methodology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1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8F9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" name="Google Shape;9;p129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" name="Google Shape;10;p129" title="android-chrome-192x192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796675" y="0"/>
            <a:ext cx="329100" cy="3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29"/>
          <p:cNvSpPr/>
          <p:nvPr/>
        </p:nvSpPr>
        <p:spPr>
          <a:xfrm>
            <a:off x="457200" y="4982713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AunooAI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8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49" r:id="rId2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2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39418377556_1_139" title="Wiley Horizons rev PH (2).ppt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9418377556_1_139" title="aunooa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3275" y="152375"/>
            <a:ext cx="1457400" cy="7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9418377556_1_139"/>
          <p:cNvSpPr txBox="1"/>
          <p:nvPr/>
        </p:nvSpPr>
        <p:spPr>
          <a:xfrm>
            <a:off x="749088" y="2043225"/>
            <a:ext cx="76458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chemeClr val="lt1"/>
                </a:solidFill>
              </a:rPr>
              <a:t>2026 - 2030 </a:t>
            </a:r>
            <a:endParaRPr b="1" sz="3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chemeClr val="lt1"/>
                </a:solidFill>
              </a:rPr>
              <a:t>HORIZONS</a:t>
            </a:r>
            <a:endParaRPr b="1" sz="3500">
              <a:solidFill>
                <a:schemeClr val="lt1"/>
              </a:solidFill>
            </a:endParaRPr>
          </a:p>
        </p:txBody>
      </p:sp>
      <p:pic>
        <p:nvPicPr>
          <p:cNvPr id="59" name="Google Shape;59;g39418377556_1_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150" y="1238400"/>
            <a:ext cx="1229676" cy="122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c984f486bc_0_0" title="Wiley Horizons rev PH (2).pptx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6900" y="379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c984f486bc_0_0"/>
          <p:cNvSpPr txBox="1"/>
          <p:nvPr/>
        </p:nvSpPr>
        <p:spPr>
          <a:xfrm>
            <a:off x="222750" y="607500"/>
            <a:ext cx="3027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AunooAI is an open strategic intelligence platform that continuously collects, classifies, and synthesises open-source information to produce structured foresight analyses.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system combines automated multi-source collection with hybrid machine-learning and large-language-model enrichment, enabling analysts to move from raw information to actionable strategic insight.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g3c984f486bc_0_0" title="aunooa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750" y="0"/>
            <a:ext cx="1386600" cy="6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c984f486b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875" y="143100"/>
            <a:ext cx="4366102" cy="196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c984f486bc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150" y="1848350"/>
            <a:ext cx="4211398" cy="17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c984f486bc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4050" y="3099101"/>
            <a:ext cx="4028699" cy="16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c984f486bc_0_0"/>
          <p:cNvSpPr txBox="1"/>
          <p:nvPr/>
        </p:nvSpPr>
        <p:spPr>
          <a:xfrm>
            <a:off x="1545000" y="77275"/>
            <a:ext cx="30270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| We watch the news for you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365760" y="146304"/>
            <a:ext cx="8229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600"/>
              <a:buFont typeface="Calibri"/>
              <a:buNone/>
            </a:pPr>
            <a:r>
              <a:rPr b="1" i="0" lang="en-GB" sz="3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The Analyst &amp; Data Science Team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47472" y="941832"/>
            <a:ext cx="4617600" cy="38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47472" y="941832"/>
            <a:ext cx="4617600" cy="658500"/>
          </a:xfrm>
          <a:prstGeom prst="rect">
            <a:avLst/>
          </a:prstGeom>
          <a:solidFill>
            <a:srgbClr val="1560A0"/>
          </a:solidFill>
          <a:ln cap="flat" cmpd="sng" w="12700">
            <a:solidFill>
              <a:srgbClr val="15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12064" y="987552"/>
            <a:ext cx="43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Oliver Rochford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12064" y="1289304"/>
            <a:ext cx="438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GB" sz="1000" u="none" cap="none" strike="noStrike">
                <a:solidFill>
                  <a:srgbClr val="FFFFFF"/>
                </a:solidFill>
                <a:highlight>
                  <a:srgbClr val="1560A0"/>
                </a:highlight>
                <a:latin typeface="Calibri"/>
                <a:ea typeface="Calibri"/>
                <a:cs typeface="Calibri"/>
                <a:sym typeface="Calibri"/>
              </a:rPr>
              <a:t>Lead Analyst  ·  Strategic Advisor</a:t>
            </a:r>
            <a:endParaRPr b="0" i="0" sz="1000" u="none" cap="none" strike="noStrike">
              <a:solidFill>
                <a:schemeClr val="dk1"/>
              </a:solidFill>
              <a:highlight>
                <a:srgbClr val="1560A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12064" y="1691640"/>
            <a:ext cx="109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ADVISORY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12064" y="1874520"/>
            <a:ext cx="434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n8n · Arcanna AI · Picus Security · Spektrum Security · Tesseract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512064" y="2148840"/>
            <a:ext cx="42885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512064" y="221284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PAST ROLES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12064" y="2395728"/>
            <a:ext cx="434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Research Director: Gartner, Securonix, Tenable  ·  Cybersecurity Leadership: HP, Verizon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512064" y="2660904"/>
            <a:ext cx="42885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512064" y="2724912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SELECT PUBLICATIONS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12064" y="2926080"/>
            <a:ext cx="4343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Magic Quadrant SIEM — Gartner, 2014–2017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Innovation Tech Insight for SOAR — Gartner, 2017 (defined the SOAR category)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Quantifying the Attacker's First-Mover Advantage — cited WSJ, Forbes, Bloomberg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The Case for a Bug Bounty Program of Last Resort — cited in OECD Report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How Lucrative are Vulnerabilities? — Tenable Research, covered by Computer Weekly, IT Pro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Hacken für Dummies / Hacken Voor Dummies — MITP/Wiley, 2001 &amp; 2003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12064" y="4416552"/>
            <a:ext cx="4288500" cy="329100"/>
          </a:xfrm>
          <a:prstGeom prst="rect">
            <a:avLst/>
          </a:prstGeom>
          <a:solidFill>
            <a:srgbClr val="EDF2FA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12064" y="4416552"/>
            <a:ext cx="4288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950"/>
              <a:buFont typeface="Calibri"/>
              <a:buNone/>
            </a:pPr>
            <a:r>
              <a:rPr b="0" i="1" lang="en-GB" sz="95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266 Google Scholar citations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148072" y="941832"/>
            <a:ext cx="3648600" cy="385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148072" y="941832"/>
            <a:ext cx="3648600" cy="6585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312664" y="987552"/>
            <a:ext cx="342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Lamine M. Aouad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312664" y="1289304"/>
            <a:ext cx="342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 Data Scientist  ·  Researcher &amp; Academic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312664" y="1691640"/>
            <a:ext cx="164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CREDENTIALS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312664" y="1874520"/>
            <a:ext cx="3374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PhD, Computer Science — University of Lille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Distributed Computing &amp; Numerical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5312664" y="2313432"/>
            <a:ext cx="33192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"/>
          <p:cNvSpPr/>
          <p:nvPr/>
        </p:nvSpPr>
        <p:spPr>
          <a:xfrm>
            <a:off x="5312664" y="2386584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PAST ROLES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312664" y="2587752"/>
            <a:ext cx="3374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Visiting Fellow, Marie Curie Institute Paris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Principal Researcher, Tenable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Principal Research Engineer, Symantec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50"/>
              <a:buFont typeface="Calibri"/>
              <a:buChar char="•"/>
            </a:pPr>
            <a:r>
              <a:rPr b="0" i="0" lang="en-GB" sz="9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Researcher, University College Dublin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5312664" y="3483864"/>
            <a:ext cx="33192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3"/>
          <p:cNvSpPr/>
          <p:nvPr/>
        </p:nvSpPr>
        <p:spPr>
          <a:xfrm>
            <a:off x="5312664" y="3547872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SELECT PUBLICATIONS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312664" y="3685032"/>
            <a:ext cx="3374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Quantifying the Attacker's First-Mover Advantage — cited WSJ, Forbes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Towards Improving Privacy of Synthetic DataSets, 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D4E63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Distributed Apriori-like Frequent Itemsets Mining, 2019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312664" y="4416552"/>
            <a:ext cx="3319200" cy="329100"/>
          </a:xfrm>
          <a:prstGeom prst="rect">
            <a:avLst/>
          </a:prstGeom>
          <a:solidFill>
            <a:srgbClr val="E6F4F3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312664" y="4453128"/>
            <a:ext cx="3319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950"/>
              <a:buFont typeface="Calibri"/>
              <a:buNone/>
            </a:pPr>
            <a:r>
              <a:rPr b="0" i="1" lang="en-GB" sz="95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406 Google Scholar citations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925" y="941820"/>
            <a:ext cx="653146" cy="6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3525" y="936328"/>
            <a:ext cx="653150" cy="6694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411480" y="18288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Human-AI Teaming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11480" y="694944"/>
            <a:ext cx="8321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1200"/>
              <a:buFont typeface="Calibri"/>
              <a:buNone/>
            </a:pPr>
            <a:r>
              <a:rPr b="0" i="1" lang="en-GB" sz="120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Grounded AI foresight guided by expert judgement — what separates reliable intelligence from hallucinated noise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11480" y="1024128"/>
            <a:ext cx="4069200" cy="38406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11480" y="1024128"/>
            <a:ext cx="4069200" cy="6402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2E8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76072" y="1069848"/>
            <a:ext cx="3831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with AI Alone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76072" y="1408176"/>
            <a:ext cx="383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E8EC"/>
              </a:buClr>
              <a:buSzPts val="1050"/>
              <a:buFont typeface="Calibri"/>
              <a:buNone/>
            </a:pPr>
            <a:r>
              <a:rPr b="0" i="1" lang="en-GB" sz="1050" u="none" cap="none" strike="noStrike">
                <a:solidFill>
                  <a:srgbClr val="C8E8EC"/>
                </a:solidFill>
                <a:latin typeface="Calibri"/>
                <a:ea typeface="Calibri"/>
                <a:cs typeface="Calibri"/>
                <a:sym typeface="Calibri"/>
              </a:rPr>
              <a:t>Why unassisted AI intelligence fails in practice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76072" y="1773936"/>
            <a:ext cx="381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NO FORESIGHT FRAMEWORK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576072" y="1956816"/>
            <a:ext cx="3739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4"/>
          <p:cNvSpPr/>
          <p:nvPr/>
        </p:nvSpPr>
        <p:spPr>
          <a:xfrm>
            <a:off x="576072" y="2011680"/>
            <a:ext cx="3794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Generic LLMs summarise the past. Without embedded foresight structures — Three-Horizon frameworks, driver taxonomies — every prediction is word-pattern extrapolation.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76072" y="2651760"/>
            <a:ext cx="381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NO CONTEXT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576072" y="2834640"/>
            <a:ext cx="3739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576072" y="2889504"/>
            <a:ext cx="379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Without a domain ontology, AI confuses noise for novelty and produces cargo cult foresight — the illusion of insight with no grounding.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76072" y="3456432"/>
            <a:ext cx="381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NO FEEDBACK LOOP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576072" y="3639312"/>
            <a:ext cx="3739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576072" y="3694176"/>
            <a:ext cx="379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Without continuous analyst validation, models drift, lose precision, and amplify bias. Intelligence quality degrades silently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11480" y="4389120"/>
            <a:ext cx="4069200" cy="475500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0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76072" y="4434840"/>
            <a:ext cx="381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1050"/>
              <a:buFont typeface="Calibri"/>
              <a:buNone/>
            </a:pPr>
            <a:r>
              <a:rPr b="0" i="1" lang="en-GB" sz="10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AI without expert oversight hallucinates. Silence is not insight — it is dangerous.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63440" y="1024128"/>
            <a:ext cx="4069200" cy="38406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663440" y="1024128"/>
            <a:ext cx="4069200" cy="640200"/>
          </a:xfrm>
          <a:prstGeom prst="rect">
            <a:avLst/>
          </a:prstGeom>
          <a:solidFill>
            <a:srgbClr val="2E8B92"/>
          </a:solidFill>
          <a:ln cap="flat" cmpd="sng" w="12700">
            <a:solidFill>
              <a:srgbClr val="2E8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28032" y="1069848"/>
            <a:ext cx="3831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Aunoo Human-AI Retainer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28032" y="1408176"/>
            <a:ext cx="383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E8EC"/>
              </a:buClr>
              <a:buSzPts val="1050"/>
              <a:buFont typeface="Calibri"/>
              <a:buNone/>
            </a:pPr>
            <a:r>
              <a:rPr b="0" i="1" lang="en-GB" sz="1050" u="none" cap="none" strike="noStrike">
                <a:solidFill>
                  <a:srgbClr val="C8E8EC"/>
                </a:solidFill>
                <a:latin typeface="Calibri"/>
                <a:ea typeface="Calibri"/>
                <a:cs typeface="Calibri"/>
                <a:sym typeface="Calibri"/>
              </a:rPr>
              <a:t>Grounded AI · Expert oversight · Continuous improvement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828032" y="1773936"/>
            <a:ext cx="381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GROUNDED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4828032" y="1956816"/>
            <a:ext cx="3739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4828032" y="2011680"/>
            <a:ext cx="3794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LLMs guided by ontology-tagged, curated data eliminate hallucinations. AI works from trusted signal — not raw internet noise — producing defensible, auditable outputs.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28032" y="2615184"/>
            <a:ext cx="381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FRACTIONAL ANALYST ON DEMAND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4828032" y="2798064"/>
            <a:ext cx="3739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>
            <a:off x="4828032" y="2852928"/>
            <a:ext cx="3794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Expert analysts curate intelligence, validate insights, and challenge assumptions — your forward observer always on call. Included with Enterprise retainer.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828032" y="3456432"/>
            <a:ext cx="381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SELF-LEARNING TOPIC MODELS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4828032" y="3639312"/>
            <a:ext cx="3739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"/>
          <p:cNvSpPr/>
          <p:nvPr/>
        </p:nvSpPr>
        <p:spPr>
          <a:xfrm>
            <a:off x="4828032" y="3694176"/>
            <a:ext cx="3794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Analysts tune relevance scoring and refine scenario drivers so the system learns continuously. 98.3% of articles processed free via local SLMs.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663440" y="4389120"/>
            <a:ext cx="4069200" cy="475500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0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828032" y="4434840"/>
            <a:ext cx="381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72"/>
              </a:buClr>
              <a:buSzPts val="1050"/>
              <a:buFont typeface="Calibri"/>
              <a:buNone/>
            </a:pPr>
            <a:r>
              <a:rPr b="0" i="1" lang="en-GB" sz="1050" u="none" cap="none" strike="noStrike">
                <a:solidFill>
                  <a:srgbClr val="1A6B72"/>
                </a:solidFill>
                <a:latin typeface="Calibri"/>
                <a:ea typeface="Calibri"/>
                <a:cs typeface="Calibri"/>
                <a:sym typeface="Calibri"/>
              </a:rPr>
              <a:t>AI + Foresight Tools + Human Intelligence = Faster, Reliable, Defensible Insights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4" title="android-chrome-192x19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6675" y="0"/>
            <a:ext cx="329100" cy="3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How We Build the Intelligence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57200" y="676656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300"/>
              <a:buFont typeface="Calibri"/>
              <a:buNone/>
            </a:pPr>
            <a:r>
              <a:rPr b="0" i="1" lang="en-GB" sz="12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From raw information to enriched, analyst-ready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457200" y="10058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"/>
          <p:cNvSpPr/>
          <p:nvPr/>
        </p:nvSpPr>
        <p:spPr>
          <a:xfrm>
            <a:off x="365760" y="1143000"/>
            <a:ext cx="2697600" cy="338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1143000"/>
            <a:ext cx="54900" cy="3383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30352" y="1325880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30352" y="1728216"/>
            <a:ext cx="244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5"/>
          <p:cNvCxnSpPr/>
          <p:nvPr/>
        </p:nvCxnSpPr>
        <p:spPr>
          <a:xfrm>
            <a:off x="530352" y="2039112"/>
            <a:ext cx="2368200" cy="0"/>
          </a:xfrm>
          <a:prstGeom prst="straightConnector1">
            <a:avLst/>
          </a:prstGeom>
          <a:noFill/>
          <a:ln cap="flat" cmpd="sng" w="9525">
            <a:solidFill>
              <a:srgbClr val="E6F4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530352" y="2103120"/>
            <a:ext cx="24414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Continuous, automated gathering from 7 curated source types — mainstream news, pre-print and peer-reviewed research, and expert social commentary — across every relevant language and geography.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30352" y="4069080"/>
            <a:ext cx="2368200" cy="310800"/>
          </a:xfrm>
          <a:prstGeom prst="rect">
            <a:avLst/>
          </a:prstGeom>
          <a:solidFill>
            <a:srgbClr val="E6F4F3"/>
          </a:solidFill>
          <a:ln cap="flat" cmpd="sng" w="9525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30352" y="4069080"/>
            <a:ext cx="2368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950"/>
              <a:buFont typeface="Calibri"/>
              <a:buNone/>
            </a:pPr>
            <a:r>
              <a:rPr b="0" i="1" lang="en-GB" sz="95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Deduplicated · Scheduled · Configurable per topic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5"/>
          <p:cNvCxnSpPr/>
          <p:nvPr/>
        </p:nvCxnSpPr>
        <p:spPr>
          <a:xfrm>
            <a:off x="3099816" y="2834640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5"/>
          <p:cNvCxnSpPr/>
          <p:nvPr/>
        </p:nvCxnSpPr>
        <p:spPr>
          <a:xfrm>
            <a:off x="3227832" y="2770632"/>
            <a:ext cx="73200" cy="63900"/>
          </a:xfrm>
          <a:prstGeom prst="straightConnector1">
            <a:avLst/>
          </a:prstGeom>
          <a:noFill/>
          <a:ln cap="flat" cmpd="sng" w="1905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5"/>
          <p:cNvCxnSpPr/>
          <p:nvPr/>
        </p:nvCxnSpPr>
        <p:spPr>
          <a:xfrm>
            <a:off x="3227832" y="2834640"/>
            <a:ext cx="73200" cy="63900"/>
          </a:xfrm>
          <a:prstGeom prst="straightConnector1">
            <a:avLst/>
          </a:prstGeom>
          <a:noFill/>
          <a:ln cap="flat" cmpd="sng" w="1905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5"/>
          <p:cNvSpPr/>
          <p:nvPr/>
        </p:nvSpPr>
        <p:spPr>
          <a:xfrm>
            <a:off x="3319272" y="1143000"/>
            <a:ext cx="2697600" cy="338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319272" y="1143000"/>
            <a:ext cx="54900" cy="33834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483864" y="1325880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483864" y="1728216"/>
            <a:ext cx="244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ENRICH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3483864" y="2039112"/>
            <a:ext cx="2368200" cy="0"/>
          </a:xfrm>
          <a:prstGeom prst="straightConnector1">
            <a:avLst/>
          </a:prstGeom>
          <a:noFill/>
          <a:ln cap="flat" cmpd="sng" w="9525">
            <a:solidFill>
              <a:srgbClr val="E6F4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5"/>
          <p:cNvSpPr/>
          <p:nvPr/>
        </p:nvSpPr>
        <p:spPr>
          <a:xfrm>
            <a:off x="3483864" y="2103120"/>
            <a:ext cx="24414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Every article is scored on 8 analytical dimensions: relevance, sentiment, time-to-impact, driver type, forward signal, source credibility, factuality, and thematic category.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483864" y="4069080"/>
            <a:ext cx="2368200" cy="310800"/>
          </a:xfrm>
          <a:prstGeom prst="rect">
            <a:avLst/>
          </a:prstGeom>
          <a:solidFill>
            <a:srgbClr val="E6F4F3"/>
          </a:solidFill>
          <a:ln cap="flat" cmpd="sng" w="9525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483864" y="4069080"/>
            <a:ext cx="2368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950"/>
              <a:buFont typeface="Calibri"/>
              <a:buNone/>
            </a:pPr>
            <a:r>
              <a:rPr b="0" i="1" lang="en-GB" sz="95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AI classifier + LLM adjudication · Confidence-scored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6053328" y="2834640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5"/>
          <p:cNvCxnSpPr/>
          <p:nvPr/>
        </p:nvCxnSpPr>
        <p:spPr>
          <a:xfrm>
            <a:off x="6181344" y="2770632"/>
            <a:ext cx="73200" cy="63900"/>
          </a:xfrm>
          <a:prstGeom prst="straightConnector1">
            <a:avLst/>
          </a:prstGeom>
          <a:noFill/>
          <a:ln cap="flat" cmpd="sng" w="1905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5"/>
          <p:cNvCxnSpPr/>
          <p:nvPr/>
        </p:nvCxnSpPr>
        <p:spPr>
          <a:xfrm>
            <a:off x="6181344" y="2834640"/>
            <a:ext cx="73200" cy="63900"/>
          </a:xfrm>
          <a:prstGeom prst="straightConnector1">
            <a:avLst/>
          </a:prstGeom>
          <a:noFill/>
          <a:ln cap="flat" cmpd="sng" w="1905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5"/>
          <p:cNvSpPr/>
          <p:nvPr/>
        </p:nvSpPr>
        <p:spPr>
          <a:xfrm>
            <a:off x="6263640" y="1143000"/>
            <a:ext cx="2697600" cy="338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263640" y="1143000"/>
            <a:ext cx="54900" cy="33834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428232" y="1325880"/>
            <a:ext cx="64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428232" y="1728216"/>
            <a:ext cx="244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CONTEXTUALISE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6428232" y="2039112"/>
            <a:ext cx="2368200" cy="0"/>
          </a:xfrm>
          <a:prstGeom prst="straightConnector1">
            <a:avLst/>
          </a:prstGeom>
          <a:noFill/>
          <a:ln cap="flat" cmpd="sng" w="9525">
            <a:solidFill>
              <a:srgbClr val="E6F4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5"/>
          <p:cNvSpPr/>
          <p:nvPr/>
        </p:nvSpPr>
        <p:spPr>
          <a:xfrm>
            <a:off x="6428232" y="2103120"/>
            <a:ext cx="24414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All outputs are filtered through your organisational profile,  your priorities, risk appetite, competitive landscape, and sector, so analysis speaks directly to Wiley's strategic position.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428232" y="4069080"/>
            <a:ext cx="2368200" cy="310800"/>
          </a:xfrm>
          <a:prstGeom prst="rect">
            <a:avLst/>
          </a:prstGeom>
          <a:solidFill>
            <a:srgbClr val="E6F4F3"/>
          </a:solidFill>
          <a:ln cap="flat" cmpd="sng" w="9525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428232" y="4069080"/>
            <a:ext cx="2368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950"/>
              <a:buFont typeface="Calibri"/>
              <a:buNone/>
            </a:pPr>
            <a:r>
              <a:rPr b="0" i="1" lang="en-GB" sz="95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Framed for scientific publishing · Org-profile aware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How We Produce the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200" y="676656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300"/>
              <a:buFont typeface="Calibri"/>
              <a:buNone/>
            </a:pPr>
            <a:r>
              <a:rPr b="0" i="1" lang="en-GB" sz="13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Five analytical lenses — each answering a distinct strategic 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6"/>
          <p:cNvCxnSpPr/>
          <p:nvPr/>
        </p:nvCxnSpPr>
        <p:spPr>
          <a:xfrm>
            <a:off x="457200" y="10058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6"/>
          <p:cNvSpPr/>
          <p:nvPr/>
        </p:nvSpPr>
        <p:spPr>
          <a:xfrm>
            <a:off x="274320" y="1143000"/>
            <a:ext cx="16092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74320" y="1143000"/>
            <a:ext cx="1609200" cy="2925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65760" y="1152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1508760"/>
            <a:ext cx="144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CONSENSUS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1801368"/>
            <a:ext cx="144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What do most credible sources agree on?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975104" y="1143000"/>
            <a:ext cx="16092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975104" y="1143000"/>
            <a:ext cx="1609200" cy="292500"/>
          </a:xfrm>
          <a:prstGeom prst="rect">
            <a:avLst/>
          </a:prstGeom>
          <a:solidFill>
            <a:srgbClr val="1560A0"/>
          </a:solidFill>
          <a:ln cap="flat" cmpd="sng" w="12700">
            <a:solidFill>
              <a:srgbClr val="15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066544" y="1152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066544" y="1508760"/>
            <a:ext cx="144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STRATEGIC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066544" y="1801368"/>
            <a:ext cx="144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What are the most important long-term implications?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675888" y="1143000"/>
            <a:ext cx="16092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675888" y="1143000"/>
            <a:ext cx="1609200" cy="2925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767328" y="1152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767328" y="1508760"/>
            <a:ext cx="144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4FA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6B4FA0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767328" y="1801368"/>
            <a:ext cx="144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What is changing right now?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376672" y="1143000"/>
            <a:ext cx="16092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376672" y="1143000"/>
            <a:ext cx="1609200" cy="292500"/>
          </a:xfrm>
          <a:prstGeom prst="rect">
            <a:avLst/>
          </a:prstGeom>
          <a:solidFill>
            <a:srgbClr val="A04060"/>
          </a:solidFill>
          <a:ln cap="flat" cmpd="sng" w="12700">
            <a:solidFill>
              <a:srgbClr val="A0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468112" y="1152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468112" y="1508760"/>
            <a:ext cx="144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06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A04060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468112" y="1801368"/>
            <a:ext cx="144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How is this situation evolving over time?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077456" y="1143000"/>
            <a:ext cx="16092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077456" y="1143000"/>
            <a:ext cx="1609200" cy="2925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168896" y="1152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168896" y="1508760"/>
            <a:ext cx="144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HORIZONS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168896" y="1801368"/>
            <a:ext cx="144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What futures are becoming possible?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6"/>
          <p:cNvCxnSpPr/>
          <p:nvPr/>
        </p:nvCxnSpPr>
        <p:spPr>
          <a:xfrm>
            <a:off x="274320" y="2834640"/>
            <a:ext cx="85953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6"/>
          <p:cNvSpPr/>
          <p:nvPr/>
        </p:nvSpPr>
        <p:spPr>
          <a:xfrm>
            <a:off x="274320" y="2944368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What You Receive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74320" y="3337560"/>
            <a:ext cx="2030100" cy="141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274320" y="3337560"/>
            <a:ext cx="2030100" cy="549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11480" y="3474720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Trend Synthesis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11480" y="3794760"/>
            <a:ext cx="180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Convergent signals from high-credibility sources, framed for strategic planning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2395728" y="3337560"/>
            <a:ext cx="2030100" cy="141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395728" y="3337560"/>
            <a:ext cx="2030100" cy="549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532888" y="3474720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Early Warning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532888" y="3794760"/>
            <a:ext cx="180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Weak signals and outlier developments before they enter mainstream consensus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517136" y="3337560"/>
            <a:ext cx="2030100" cy="141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517136" y="3337560"/>
            <a:ext cx="2030100" cy="549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654296" y="3474720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Emerging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654296" y="3794760"/>
            <a:ext cx="180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Automatically detected new themes with velocity and novelty scoring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638544" y="3337560"/>
            <a:ext cx="2030100" cy="141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638544" y="3337560"/>
            <a:ext cx="2030100" cy="549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775704" y="3474720"/>
            <a:ext cx="180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Cited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775704" y="3794760"/>
            <a:ext cx="180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Every claim traceable to source articles with credibility and bias ratings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6" title="android-chrome-192x19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6675" y="0"/>
            <a:ext cx="329100" cy="3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365760" y="146304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How Analysis Is Calibrated to Wiley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65760" y="585216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150"/>
              <a:buFont typeface="Calibri"/>
              <a:buNone/>
            </a:pPr>
            <a:r>
              <a:rPr b="0" i="1" lang="en-GB" sz="115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Three systems ensure every output is domain-specific, evidence-based, and relevant to a scientific publisher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47472" y="960120"/>
            <a:ext cx="2743200" cy="329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47472" y="960120"/>
            <a:ext cx="2743200" cy="402300"/>
          </a:xfrm>
          <a:prstGeom prst="rect">
            <a:avLst/>
          </a:prstGeom>
          <a:solidFill>
            <a:srgbClr val="1560A0"/>
          </a:solidFill>
          <a:ln cap="flat" cmpd="sng" w="12700">
            <a:solidFill>
              <a:srgbClr val="15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84632" y="987552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Organisational Profile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84632" y="1207008"/>
            <a:ext cx="2514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is this analysis for?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12064" y="1453896"/>
            <a:ext cx="2469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Industry &amp; org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Key concerns &amp; strategic priorities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Risk tolerance &amp; innovation appetite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Decision-making style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Regulatory environment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47472" y="3776472"/>
            <a:ext cx="2743200" cy="475500"/>
          </a:xfrm>
          <a:prstGeom prst="rect">
            <a:avLst/>
          </a:prstGeom>
          <a:solidFill>
            <a:srgbClr val="EDF2FA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84632" y="3776472"/>
            <a:ext cx="25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Frames recommendations in terms of actions Wiley can actually take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291840" y="960120"/>
            <a:ext cx="2743200" cy="329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3291840" y="960120"/>
            <a:ext cx="2743200" cy="4023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429000" y="987552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Topic Ontologies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429000" y="1207008"/>
            <a:ext cx="2514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vocabulary does this domain use?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456432" y="1453896"/>
            <a:ext cx="2469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Domain-specific categories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Future signal types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Sentiment framing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Time-to-impact horizons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Driver types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91840" y="3776472"/>
            <a:ext cx="2743200" cy="475500"/>
          </a:xfrm>
          <a:prstGeom prst="rect">
            <a:avLst/>
          </a:prstGeom>
          <a:solidFill>
            <a:srgbClr val="E6F4F3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429000" y="3776472"/>
            <a:ext cx="25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Each topic has its own classification structure — not a generic tag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236208" y="960120"/>
            <a:ext cx="2743200" cy="329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236208" y="960120"/>
            <a:ext cx="2743200" cy="4023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373368" y="987552"/>
            <a:ext cx="251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 Prompts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373368" y="1207008"/>
            <a:ext cx="2514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are they combined?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400800" y="1453896"/>
            <a:ext cx="24690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Versioned, lens-specific templates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Ontology values injected as constraints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Org profile injected as framing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Article corpus with metadata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D4E63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3D4E63"/>
                </a:solidFill>
                <a:latin typeface="Calibri"/>
                <a:ea typeface="Calibri"/>
                <a:cs typeface="Calibri"/>
                <a:sym typeface="Calibri"/>
              </a:rPr>
              <a:t>Consistency controls (0.0–0.7)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236208" y="3776472"/>
            <a:ext cx="2743200" cy="475500"/>
          </a:xfrm>
          <a:prstGeom prst="rect">
            <a:avLst/>
          </a:prstGeom>
          <a:solidFill>
            <a:srgbClr val="F0EDF8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373368" y="3776472"/>
            <a:ext cx="251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4FA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4FA0"/>
                </a:solidFill>
                <a:latin typeface="Calibri"/>
                <a:ea typeface="Calibri"/>
                <a:cs typeface="Calibri"/>
                <a:sym typeface="Calibri"/>
              </a:rPr>
              <a:t>Same evidence base, different profiles → fundamentally different outputs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47472" y="4370832"/>
            <a:ext cx="8631900" cy="457200"/>
          </a:xfrm>
          <a:prstGeom prst="rect">
            <a:avLst/>
          </a:prstGeom>
          <a:solidFill>
            <a:srgbClr val="E6F4F3"/>
          </a:solidFill>
          <a:ln cap="flat" cmpd="sng" w="9525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57200" y="4370832"/>
            <a:ext cx="8412600" cy="457200"/>
          </a:xfrm>
          <a:prstGeom prst="rect">
            <a:avLst/>
          </a:prstGeom>
          <a:noFill/>
          <a:ln cap="flat" cmpd="sng" w="9525">
            <a:solidFill>
              <a:srgbClr val="E6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= Analysis that is domain-specific · organisation-relevant · evidence-based · actionable for Wiley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7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6" name="Google Shape;266;p7" title="android-chrome-192x19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6675" y="0"/>
            <a:ext cx="329100" cy="3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/>
          <p:nvPr/>
        </p:nvSpPr>
        <p:spPr>
          <a:xfrm>
            <a:off x="365760" y="137160"/>
            <a:ext cx="6400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What We Monitor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65760" y="566928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200"/>
              <a:buFont typeface="Calibri"/>
              <a:buNone/>
            </a:pPr>
            <a:r>
              <a:rPr b="0" i="1" lang="en-GB" sz="12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17 topics · ~42,900 articles analysed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65760" y="914400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65760" y="914400"/>
            <a:ext cx="45600" cy="4005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84632" y="932688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AI and Machine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886200" y="932688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19k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65760" y="1351483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5760" y="1351483"/>
            <a:ext cx="45600" cy="4005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84632" y="1369771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Geopolitical Hotspots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886200" y="1369771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4F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6B4FA0"/>
                </a:solidFill>
                <a:latin typeface="Calibri"/>
                <a:ea typeface="Calibri"/>
                <a:cs typeface="Calibri"/>
                <a:sym typeface="Calibri"/>
              </a:rPr>
              <a:t>18k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65760" y="1788566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65760" y="1788566"/>
            <a:ext cx="45600" cy="4005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84632" y="1806854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Trump Administration Tracker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886200" y="1806854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1.6k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65760" y="2225650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65760" y="2225650"/>
            <a:ext cx="45600" cy="4005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84632" y="2243938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University Grants &amp; Science Infrastructure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886200" y="2243938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691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65760" y="2662733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65760" y="2662733"/>
            <a:ext cx="45600" cy="400500"/>
          </a:xfrm>
          <a:prstGeom prst="rect">
            <a:avLst/>
          </a:prstGeom>
          <a:solidFill>
            <a:srgbClr val="1560A0"/>
          </a:solidFill>
          <a:ln cap="flat" cmpd="sng" w="12700">
            <a:solidFill>
              <a:srgbClr val="15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84632" y="2681021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Attacks on Expertise &amp; Peer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886200" y="2681021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652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65760" y="3099816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65760" y="3099816"/>
            <a:ext cx="45600" cy="4005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84632" y="3118104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U.S. Federal R&amp;D Pullback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886200" y="3118104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480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65760" y="3536899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65760" y="3536899"/>
            <a:ext cx="45600" cy="400500"/>
          </a:xfrm>
          <a:prstGeom prst="rect">
            <a:avLst/>
          </a:prstGeom>
          <a:solidFill>
            <a:srgbClr val="A04060"/>
          </a:solidFill>
          <a:ln cap="flat" cmpd="sng" w="12700">
            <a:solidFill>
              <a:srgbClr val="A0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84632" y="3555187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Brand Monitoring: SAGE Publishing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3886200" y="3555187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06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A04060"/>
                </a:solidFill>
                <a:latin typeface="Calibri"/>
                <a:ea typeface="Calibri"/>
                <a:cs typeface="Calibri"/>
                <a:sym typeface="Calibri"/>
              </a:rPr>
              <a:t>469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365760" y="3973982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65760" y="3973982"/>
            <a:ext cx="45600" cy="400500"/>
          </a:xfrm>
          <a:prstGeom prst="rect">
            <a:avLst/>
          </a:prstGeom>
          <a:solidFill>
            <a:srgbClr val="1560A0"/>
          </a:solidFill>
          <a:ln cap="flat" cmpd="sng" w="12700">
            <a:solidFill>
              <a:srgbClr val="15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84632" y="3992270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Publishing &amp; Integrity Orgs Watch 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886200" y="3992270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407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65760" y="4411066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65760" y="4411066"/>
            <a:ext cx="45600" cy="400500"/>
          </a:xfrm>
          <a:prstGeom prst="rect">
            <a:avLst/>
          </a:prstGeom>
          <a:solidFill>
            <a:srgbClr val="A04060"/>
          </a:solidFill>
          <a:ln cap="flat" cmpd="sng" w="12700">
            <a:solidFill>
              <a:srgbClr val="A0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84632" y="4429354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Brand Monitoring: Pearson Education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886200" y="4429354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06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A04060"/>
                </a:solidFill>
                <a:latin typeface="Calibri"/>
                <a:ea typeface="Calibri"/>
                <a:cs typeface="Calibri"/>
                <a:sym typeface="Calibri"/>
              </a:rPr>
              <a:t>399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800600" y="914400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800600" y="914400"/>
            <a:ext cx="45600" cy="4005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919472" y="932688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Patent Cliffs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321040" y="932688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4F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6B4FA0"/>
                </a:solidFill>
                <a:latin typeface="Calibri"/>
                <a:ea typeface="Calibri"/>
                <a:cs typeface="Calibri"/>
                <a:sym typeface="Calibri"/>
              </a:rPr>
              <a:t>367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800600" y="1351483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800600" y="1351483"/>
            <a:ext cx="45600" cy="400500"/>
          </a:xfrm>
          <a:prstGeom prst="rect">
            <a:avLst/>
          </a:prstGeom>
          <a:solidFill>
            <a:srgbClr val="1560A0"/>
          </a:solidFill>
          <a:ln cap="flat" cmpd="sng" w="12700">
            <a:solidFill>
              <a:srgbClr val="15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919472" y="1369771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Scientific Publishers — General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8321040" y="1369771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334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800600" y="1788566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800600" y="1788566"/>
            <a:ext cx="45600" cy="4005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919472" y="1806854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US Civil War &amp; Societal Conflict Tracker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8321040" y="1806854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4F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6B4FA0"/>
                </a:solidFill>
                <a:latin typeface="Calibri"/>
                <a:ea typeface="Calibri"/>
                <a:cs typeface="Calibri"/>
                <a:sym typeface="Calibri"/>
              </a:rPr>
              <a:t>318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800600" y="2225650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800600" y="2225650"/>
            <a:ext cx="45600" cy="400500"/>
          </a:xfrm>
          <a:prstGeom prst="rect">
            <a:avLst/>
          </a:prstGeom>
          <a:solidFill>
            <a:srgbClr val="A04060"/>
          </a:solidFill>
          <a:ln cap="flat" cmpd="sng" w="12700">
            <a:solidFill>
              <a:srgbClr val="A0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919472" y="2243938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Brand Monitoring: Elsevier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8321040" y="2243938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06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A04060"/>
                </a:solidFill>
                <a:latin typeface="Calibri"/>
                <a:ea typeface="Calibri"/>
                <a:cs typeface="Calibri"/>
                <a:sym typeface="Calibri"/>
              </a:rPr>
              <a:t>218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800600" y="2662733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800600" y="2662733"/>
            <a:ext cx="45600" cy="400500"/>
          </a:xfrm>
          <a:prstGeom prst="rect">
            <a:avLst/>
          </a:prstGeom>
          <a:solidFill>
            <a:srgbClr val="A04060"/>
          </a:solidFill>
          <a:ln cap="flat" cmpd="sng" w="12700">
            <a:solidFill>
              <a:srgbClr val="A0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919472" y="2681021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Brand Monitoring: Wiley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8321040" y="2681021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406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A04060"/>
                </a:solidFill>
                <a:latin typeface="Calibri"/>
                <a:ea typeface="Calibri"/>
                <a:cs typeface="Calibri"/>
                <a:sym typeface="Calibri"/>
              </a:rPr>
              <a:t>194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800600" y="3099816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800600" y="3099816"/>
            <a:ext cx="45600" cy="400500"/>
          </a:xfrm>
          <a:prstGeom prst="rect">
            <a:avLst/>
          </a:prstGeom>
          <a:solidFill>
            <a:srgbClr val="1560A0"/>
          </a:solidFill>
          <a:ln cap="flat" cmpd="sng" w="12700">
            <a:solidFill>
              <a:srgbClr val="156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919472" y="3118104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Open Science Transition Uncertainty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8321040" y="3118104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560A0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800600" y="3536899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800600" y="3536899"/>
            <a:ext cx="45600" cy="400500"/>
          </a:xfrm>
          <a:prstGeom prst="rect">
            <a:avLst/>
          </a:prstGeom>
          <a:solidFill>
            <a:srgbClr val="008C82"/>
          </a:solidFill>
          <a:ln cap="flat" cmpd="sng" w="12700">
            <a:solidFill>
              <a:srgbClr val="00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919472" y="3555187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Compensatory R&amp;D Investment Abroad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8321040" y="3555187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8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08C82"/>
                </a:solidFill>
                <a:latin typeface="Calibri"/>
                <a:ea typeface="Calibri"/>
                <a:cs typeface="Calibri"/>
                <a:sym typeface="Calibri"/>
              </a:rPr>
              <a:t>206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800600" y="3973982"/>
            <a:ext cx="4206300" cy="40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800600" y="3973982"/>
            <a:ext cx="45600" cy="400500"/>
          </a:xfrm>
          <a:prstGeom prst="rect">
            <a:avLst/>
          </a:prstGeom>
          <a:solidFill>
            <a:srgbClr val="6B4FA0"/>
          </a:solidFill>
          <a:ln cap="flat" cmpd="sng" w="12700">
            <a:solidFill>
              <a:srgbClr val="6B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919472" y="3992270"/>
            <a:ext cx="3383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M&amp;A Updates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8321040" y="3992270"/>
            <a:ext cx="621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4FA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6B4FA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8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DE5E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43" name="Google Shape;343;p8" title="android-chrome-192x19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6675" y="0"/>
            <a:ext cx="329100" cy="3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